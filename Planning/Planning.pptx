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B8F5"/>
    <a:srgbClr val="8A95D5"/>
    <a:srgbClr val="D584C9"/>
    <a:srgbClr val="F28DEA"/>
    <a:srgbClr val="D58283"/>
    <a:srgbClr val="D0A98A"/>
    <a:srgbClr val="B8CA76"/>
    <a:srgbClr val="ABCA98"/>
    <a:srgbClr val="628BAC"/>
    <a:srgbClr val="6C8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070"/>
    <p:restoredTop sz="96327"/>
  </p:normalViewPr>
  <p:slideViewPr>
    <p:cSldViewPr snapToGrid="0">
      <p:cViewPr>
        <p:scale>
          <a:sx n="125" d="100"/>
          <a:sy n="125" d="100"/>
        </p:scale>
        <p:origin x="-12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F6D74-7D2A-FE90-AF74-21224310E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E81C21-A859-0857-5525-6EFFD7AB6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38923-44AA-F034-2639-FF98DE0E3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2F1D-2A3F-1D4E-839C-7A968445D62F}" type="datetimeFigureOut">
              <a:rPr lang="en-CH" smtClean="0"/>
              <a:t>03.04.2026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D0C4B-19C4-2695-90C5-BC2760E48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A55E4-0F07-0C8A-2DD8-16596F016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A5881-292A-B14D-8950-F12A56F4DE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64382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5AF34-1A74-26AB-5D94-FCC3BA68A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10BFD-D4FF-9E48-0E86-3A5B2B4B75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99639-8435-8FF0-816F-F659EC329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2F1D-2A3F-1D4E-839C-7A968445D62F}" type="datetimeFigureOut">
              <a:rPr lang="en-CH" smtClean="0"/>
              <a:t>03.04.2026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427E3-6F8C-B7C8-076E-BC092761D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54032-C9F7-C610-23DA-73873E408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A5881-292A-B14D-8950-F12A56F4DE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49973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21B9D-EABC-FFDB-753D-0D1BAB23D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C8C5A-D29B-DC8D-6FE0-B887BF64F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7B4CA-DC1D-B85E-25F9-5BC7ABEA0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2F1D-2A3F-1D4E-839C-7A968445D62F}" type="datetimeFigureOut">
              <a:rPr lang="en-CH" smtClean="0"/>
              <a:t>03.04.2026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F9F23-34AC-A2DD-7B94-73513722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89563-8778-124D-8207-325195648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A5881-292A-B14D-8950-F12A56F4DE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79733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EB76D-4ABA-BCE2-7A49-BCDE77D6D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60FD6-F2FA-08B5-388D-3C02A5BC9D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25F973-DC20-C87D-3DF5-44320A8D9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E0781-972E-39D7-4130-060E32EF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2F1D-2A3F-1D4E-839C-7A968445D62F}" type="datetimeFigureOut">
              <a:rPr lang="en-CH" smtClean="0"/>
              <a:t>03.04.2026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99DAFD-37C2-E6DB-5812-F6DFCA135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D396CA-1F1E-5F0F-6F1C-2AC0F326F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A5881-292A-B14D-8950-F12A56F4DE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54407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BE9F-E237-8D24-FDC3-C7AA0DA3A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62828-B2A5-B896-25A9-344EE923F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7E3C85-135A-DF8E-0692-1E776450F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9161D1-AEC0-121A-C41B-3C739AAF86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572129-8D00-C111-BD76-11FA1EFD83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B66388-D4F7-D0A1-C92F-839B4AA0C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2F1D-2A3F-1D4E-839C-7A968445D62F}" type="datetimeFigureOut">
              <a:rPr lang="en-CH" smtClean="0"/>
              <a:t>03.04.2026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1418DA-75CA-0F90-94F4-5B0E29568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05DE4-1150-1EAE-7BF3-7147C5CD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A5881-292A-B14D-8950-F12A56F4DE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53189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ED203-3036-9E68-9612-27792D9C9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981668-65B8-2915-71F7-CA2A5126C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2F1D-2A3F-1D4E-839C-7A968445D62F}" type="datetimeFigureOut">
              <a:rPr lang="en-CH" smtClean="0"/>
              <a:t>03.04.2026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49B5DE-24F7-A072-0BC7-7239C4B1C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233E39-AE1B-778D-B8E4-4471DD1C0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A5881-292A-B14D-8950-F12A56F4DE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875103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342DC3-8054-1F52-D699-C4BB61158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2F1D-2A3F-1D4E-839C-7A968445D62F}" type="datetimeFigureOut">
              <a:rPr lang="en-CH" smtClean="0"/>
              <a:t>03.04.2026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FD0709-D3F2-36FE-A785-23AE8884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25C09-9722-7AAA-449E-ED3C22CEC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A5881-292A-B14D-8950-F12A56F4DE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751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A1266-A8C8-780E-CEA3-0C99FE320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184F6-EFDB-4C25-E7DC-4CF6CBE1F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6CA2C-BA5D-C52B-66C6-3A25926E03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E24F1-B2DE-558C-DFE8-DD3698FD6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2F1D-2A3F-1D4E-839C-7A968445D62F}" type="datetimeFigureOut">
              <a:rPr lang="en-CH" smtClean="0"/>
              <a:t>03.04.2026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279C98-37D2-ED2B-43FB-437D7823D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C403E3-2BF9-CBEB-EC34-FA782236E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A5881-292A-B14D-8950-F12A56F4DE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42227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2E864-C0F2-2987-9D2C-93B0C9293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FEF13A-45A9-0EBC-D451-2803CC76FC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DEA759-AD8B-7BC2-3AB3-6207F15C6D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E60CC-6BE7-C031-C345-EE6D05E22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2F1D-2A3F-1D4E-839C-7A968445D62F}" type="datetimeFigureOut">
              <a:rPr lang="en-CH" smtClean="0"/>
              <a:t>03.04.2026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A3D5F-DBEB-61B6-F646-C3C85245D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660205-1033-E515-CE45-44FC8A567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A5881-292A-B14D-8950-F12A56F4DE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11634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A3E15-23B1-51EC-DF31-67930947B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B8443E-A0EA-62B2-F6A0-ACECFBFDB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53C37-1037-22EF-B5AD-973B0DD2A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2F1D-2A3F-1D4E-839C-7A968445D62F}" type="datetimeFigureOut">
              <a:rPr lang="en-CH" smtClean="0"/>
              <a:t>03.04.2026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66C00-2E87-10BE-B974-8BE8908A2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643E6-685A-5010-0CBD-B13FE0C2D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A5881-292A-B14D-8950-F12A56F4DE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03075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594182-47C6-ABD8-D65F-D23200B5FE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13A759-D7E8-86E5-BEB9-8D202FD24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24275-FA68-9B26-26CB-A37476410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2F1D-2A3F-1D4E-839C-7A968445D62F}" type="datetimeFigureOut">
              <a:rPr lang="en-CH" smtClean="0"/>
              <a:t>03.04.2026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29CB1-B9B9-6B35-DD16-65F1DFB1E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7C14B5-B766-C21B-CF4B-4306DE860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A5881-292A-B14D-8950-F12A56F4DE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31245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48B091-0D3B-471B-805F-F6FDCFF60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363348-06FA-D07C-51A8-A485D8B14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28A16-FF10-2FDD-EC97-97F8E5B3A6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B2F1D-2A3F-1D4E-839C-7A968445D62F}" type="datetimeFigureOut">
              <a:rPr lang="en-CH" smtClean="0"/>
              <a:t>03.04.2026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880C6-D612-7FAB-3093-BF69647C2C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A36BC-387C-97CC-512E-E23B782233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9A5881-292A-B14D-8950-F12A56F4DE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1673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8040F6-64D9-3587-50FD-40AA36936C1D}"/>
              </a:ext>
            </a:extLst>
          </p:cNvPr>
          <p:cNvSpPr txBox="1"/>
          <p:nvPr/>
        </p:nvSpPr>
        <p:spPr>
          <a:xfrm>
            <a:off x="729344" y="794657"/>
            <a:ext cx="524812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CH" sz="1000" dirty="0"/>
              <a:t>Mettre à jour GDD (0.5)</a:t>
            </a:r>
          </a:p>
          <a:p>
            <a:pPr marL="285750" indent="-285750">
              <a:buFontTx/>
              <a:buChar char="-"/>
            </a:pPr>
            <a:r>
              <a:rPr lang="en-CH" sz="1000" dirty="0"/>
              <a:t>Finir d’attribuer toutes les rooms (narrative data) (1)</a:t>
            </a:r>
          </a:p>
          <a:p>
            <a:pPr marL="285750" indent="-285750">
              <a:buFontTx/>
              <a:buChar char="-"/>
            </a:pPr>
            <a:r>
              <a:rPr lang="en-CH" sz="1000" dirty="0"/>
              <a:t>Attribuer mediums et scores aux infos dans les rooms du proto (2)</a:t>
            </a:r>
          </a:p>
          <a:p>
            <a:pPr marL="285750" indent="-285750">
              <a:buFontTx/>
              <a:buChar char="-"/>
            </a:pPr>
            <a:r>
              <a:rPr lang="en-CH" sz="1000" dirty="0"/>
              <a:t>Rassembler les archives (1)</a:t>
            </a:r>
          </a:p>
          <a:p>
            <a:pPr marL="285750" indent="-285750">
              <a:buFontTx/>
              <a:buChar char="-"/>
            </a:pPr>
            <a:r>
              <a:rPr lang="en-CH" sz="1000" dirty="0"/>
              <a:t>Définir méthode de création/sélection données (0.5)</a:t>
            </a:r>
          </a:p>
          <a:p>
            <a:pPr marL="285750" indent="-285750">
              <a:buFontTx/>
              <a:buChar char="-"/>
            </a:pPr>
            <a:r>
              <a:rPr lang="en-CH" sz="1000" dirty="0"/>
              <a:t>Faire liste des décisions prises jusque-là (1)</a:t>
            </a:r>
          </a:p>
          <a:p>
            <a:pPr marL="285750" indent="-285750">
              <a:buFontTx/>
              <a:buChar char="-"/>
            </a:pPr>
            <a:r>
              <a:rPr lang="en-CH" sz="1000" dirty="0"/>
              <a:t>Finaliser décisions design (1)</a:t>
            </a:r>
          </a:p>
          <a:p>
            <a:pPr marL="285750" indent="-285750">
              <a:buFontTx/>
              <a:buChar char="-"/>
            </a:pPr>
            <a:r>
              <a:rPr lang="en-CH" sz="1000" dirty="0"/>
              <a:t>Finir tablette (pas bien, juste le faire !) (1)</a:t>
            </a:r>
          </a:p>
          <a:p>
            <a:pPr marL="285750" indent="-285750">
              <a:buFontTx/>
              <a:buChar char="-"/>
            </a:pPr>
            <a:r>
              <a:rPr lang="en-CH" sz="1000" dirty="0"/>
              <a:t>Écrire textes en toki pona (4)</a:t>
            </a:r>
          </a:p>
          <a:p>
            <a:pPr marL="285750" indent="-285750">
              <a:buFontTx/>
              <a:buChar char="-"/>
            </a:pPr>
            <a:r>
              <a:rPr lang="en-CH" sz="1000" dirty="0"/>
              <a:t>Whiteboxing (11)</a:t>
            </a:r>
          </a:p>
          <a:p>
            <a:pPr marL="742950" lvl="1" indent="-285750">
              <a:buFontTx/>
              <a:buChar char="-"/>
            </a:pPr>
            <a:r>
              <a:rPr lang="en-CH" sz="1000" dirty="0"/>
              <a:t>Waiting Room (2)</a:t>
            </a:r>
          </a:p>
          <a:p>
            <a:pPr marL="742950" lvl="1" indent="-285750">
              <a:buFontTx/>
              <a:buChar char="-"/>
            </a:pPr>
            <a:r>
              <a:rPr lang="en-CH" sz="1000" dirty="0"/>
              <a:t>Crafting Room (3)</a:t>
            </a:r>
          </a:p>
          <a:p>
            <a:pPr marL="742950" lvl="1" indent="-285750">
              <a:buFontTx/>
              <a:buChar char="-"/>
            </a:pPr>
            <a:r>
              <a:rPr lang="en-CH" sz="1000" dirty="0"/>
              <a:t>Balcony (2)</a:t>
            </a:r>
          </a:p>
          <a:p>
            <a:pPr marL="742950" lvl="1" indent="-285750">
              <a:buFontTx/>
              <a:buChar char="-"/>
            </a:pPr>
            <a:r>
              <a:rPr lang="en-CH" sz="1000" dirty="0"/>
              <a:t>Waterfall (1)</a:t>
            </a:r>
          </a:p>
          <a:p>
            <a:pPr marL="742950" lvl="1" indent="-285750">
              <a:buFontTx/>
              <a:buChar char="-"/>
            </a:pPr>
            <a:r>
              <a:rPr lang="en-CH" sz="1000" dirty="0"/>
              <a:t>Sacred Resting Place (1)</a:t>
            </a:r>
          </a:p>
          <a:p>
            <a:pPr marL="742950" lvl="1" indent="-285750">
              <a:buFontTx/>
              <a:buChar char="-"/>
            </a:pPr>
            <a:r>
              <a:rPr lang="en-CH" sz="1000" dirty="0"/>
              <a:t>Stairs (2)</a:t>
            </a:r>
          </a:p>
          <a:p>
            <a:pPr marL="285750" indent="-285750">
              <a:buFontTx/>
              <a:buChar char="-"/>
            </a:pPr>
            <a:r>
              <a:rPr lang="en-CH" sz="1000" dirty="0"/>
              <a:t>Assets (13)</a:t>
            </a:r>
          </a:p>
          <a:p>
            <a:pPr marL="742950" lvl="1" indent="-285750">
              <a:buFontTx/>
              <a:buChar char="-"/>
            </a:pPr>
            <a:r>
              <a:rPr lang="en-CH" sz="1000" dirty="0"/>
              <a:t>Waiting Room (2)</a:t>
            </a:r>
          </a:p>
          <a:p>
            <a:pPr marL="742950" lvl="1" indent="-285750">
              <a:buFontTx/>
              <a:buChar char="-"/>
            </a:pPr>
            <a:r>
              <a:rPr lang="en-CH" sz="1000" dirty="0"/>
              <a:t>Crafting Room (3)</a:t>
            </a:r>
          </a:p>
          <a:p>
            <a:pPr marL="742950" lvl="1" indent="-285750">
              <a:buFontTx/>
              <a:buChar char="-"/>
            </a:pPr>
            <a:r>
              <a:rPr lang="en-CH" sz="1000" dirty="0"/>
              <a:t>Balcony (1)</a:t>
            </a:r>
          </a:p>
          <a:p>
            <a:pPr marL="742950" lvl="1" indent="-285750">
              <a:buFontTx/>
              <a:buChar char="-"/>
            </a:pPr>
            <a:r>
              <a:rPr lang="en-CH" sz="1000" dirty="0"/>
              <a:t>Waterfall (3)</a:t>
            </a:r>
          </a:p>
          <a:p>
            <a:pPr marL="742950" lvl="1" indent="-285750">
              <a:buFontTx/>
              <a:buChar char="-"/>
            </a:pPr>
            <a:r>
              <a:rPr lang="en-CH" sz="1000" dirty="0"/>
              <a:t>Sacred Resting Place (2)</a:t>
            </a:r>
          </a:p>
          <a:p>
            <a:pPr marL="742950" lvl="1" indent="-285750">
              <a:buFontTx/>
              <a:buChar char="-"/>
            </a:pPr>
            <a:r>
              <a:rPr lang="en-CH" sz="1000" dirty="0"/>
              <a:t>Stairs (2)</a:t>
            </a:r>
          </a:p>
          <a:p>
            <a:pPr marL="285750" indent="-285750">
              <a:buFontTx/>
              <a:buChar char="-"/>
            </a:pPr>
            <a:r>
              <a:rPr lang="en-CH" sz="1000" dirty="0"/>
              <a:t>Lumière (1 j par pièce) (6)</a:t>
            </a:r>
          </a:p>
          <a:p>
            <a:pPr marL="285750" indent="-285750">
              <a:buFontTx/>
              <a:buChar char="-"/>
            </a:pPr>
            <a:endParaRPr lang="en-CH" sz="1000" dirty="0"/>
          </a:p>
          <a:p>
            <a:pPr marL="285750" indent="-285750">
              <a:buFontTx/>
              <a:buChar char="-"/>
            </a:pPr>
            <a:r>
              <a:rPr lang="en-CH" sz="1000" dirty="0"/>
              <a:t>42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90324E-FB8C-E327-388F-152DDE83A97C}"/>
              </a:ext>
            </a:extLst>
          </p:cNvPr>
          <p:cNvSpPr txBox="1"/>
          <p:nvPr/>
        </p:nvSpPr>
        <p:spPr>
          <a:xfrm>
            <a:off x="6232678" y="879324"/>
            <a:ext cx="52481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CH" sz="1000" dirty="0"/>
              <a:t>Trouver et lire 2-3 articles recherche-création (se concentrer sur la forme et méthode) (1)</a:t>
            </a:r>
          </a:p>
          <a:p>
            <a:pPr marL="285750" indent="-285750">
              <a:buFontTx/>
              <a:buChar char="-"/>
            </a:pPr>
            <a:r>
              <a:rPr lang="en-CH" sz="1000" dirty="0"/>
              <a:t>Rassembler ludographie (0.5)</a:t>
            </a:r>
          </a:p>
          <a:p>
            <a:pPr marL="285750" indent="-285750">
              <a:buFontTx/>
              <a:buChar char="-"/>
            </a:pPr>
            <a:r>
              <a:rPr lang="en-CH" sz="1000" dirty="0"/>
              <a:t>Rassembler bibliographie (3)</a:t>
            </a:r>
          </a:p>
          <a:p>
            <a:pPr marL="285750" indent="-285750">
              <a:buFontTx/>
              <a:buChar char="-"/>
            </a:pPr>
            <a:r>
              <a:rPr lang="en-CH" sz="1000" dirty="0"/>
              <a:t>Définir structure du rapport (0.5)</a:t>
            </a:r>
          </a:p>
          <a:p>
            <a:pPr marL="285750" indent="-285750">
              <a:buFontTx/>
              <a:buChar char="-"/>
            </a:pPr>
            <a:r>
              <a:rPr lang="en-CH" sz="1000" dirty="0"/>
              <a:t>Écriture (5)</a:t>
            </a:r>
          </a:p>
          <a:p>
            <a:pPr marL="285750" indent="-285750">
              <a:buFontTx/>
              <a:buChar char="-"/>
            </a:pPr>
            <a:r>
              <a:rPr lang="en-CH" sz="1000" dirty="0"/>
              <a:t>Présentation (2)</a:t>
            </a:r>
          </a:p>
          <a:p>
            <a:pPr marL="285750" indent="-285750">
              <a:buFontTx/>
              <a:buChar char="-"/>
            </a:pPr>
            <a:endParaRPr lang="en-CH" sz="1000" dirty="0"/>
          </a:p>
          <a:p>
            <a:pPr marL="285750" indent="-285750">
              <a:buFontTx/>
              <a:buChar char="-"/>
            </a:pPr>
            <a:r>
              <a:rPr lang="en-CH" sz="1000" dirty="0"/>
              <a:t>12</a:t>
            </a:r>
          </a:p>
          <a:p>
            <a:pPr marL="742950" lvl="1" indent="-285750">
              <a:buFontTx/>
              <a:buChar char="-"/>
            </a:pPr>
            <a:endParaRPr lang="en-CH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F53F70-274A-1BA1-74D9-0CBC450FD083}"/>
              </a:ext>
            </a:extLst>
          </p:cNvPr>
          <p:cNvSpPr txBox="1"/>
          <p:nvPr/>
        </p:nvSpPr>
        <p:spPr>
          <a:xfrm>
            <a:off x="688258" y="4984955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-&gt; 14.02.26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0A1126-F081-F602-6033-ECC9EE66398F}"/>
              </a:ext>
            </a:extLst>
          </p:cNvPr>
          <p:cNvSpPr txBox="1"/>
          <p:nvPr/>
        </p:nvSpPr>
        <p:spPr>
          <a:xfrm>
            <a:off x="6410632" y="2487561"/>
            <a:ext cx="5227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5 sem avant présentation -&gt; 2 sem avant présentation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B300AF-61FC-3D7D-EFCE-23E62D88006F}"/>
              </a:ext>
            </a:extLst>
          </p:cNvPr>
          <p:cNvSpPr txBox="1"/>
          <p:nvPr/>
        </p:nvSpPr>
        <p:spPr>
          <a:xfrm>
            <a:off x="4524195" y="4727959"/>
            <a:ext cx="23338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Projet</a:t>
            </a:r>
          </a:p>
          <a:p>
            <a:r>
              <a:rPr lang="en-CH" dirty="0"/>
              <a:t>3 semaines osef quand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94111C-A185-9F71-5F37-6446F586296E}"/>
              </a:ext>
            </a:extLst>
          </p:cNvPr>
          <p:cNvSpPr txBox="1"/>
          <p:nvPr/>
        </p:nvSpPr>
        <p:spPr>
          <a:xfrm>
            <a:off x="7583721" y="4151925"/>
            <a:ext cx="24508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Stages</a:t>
            </a:r>
          </a:p>
          <a:p>
            <a:r>
              <a:rPr lang="en-CH" dirty="0"/>
              <a:t>10 semaines osef quand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6A8D47-29A7-2DD7-CC10-6AC3B1E34836}"/>
              </a:ext>
            </a:extLst>
          </p:cNvPr>
          <p:cNvSpPr txBox="1"/>
          <p:nvPr/>
        </p:nvSpPr>
        <p:spPr>
          <a:xfrm>
            <a:off x="627231" y="5542003"/>
            <a:ext cx="47085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Visu QUE SCATTERPLOT (avec cartes en dessous)</a:t>
            </a:r>
          </a:p>
          <a:p>
            <a:r>
              <a:rPr lang="en-CH" dirty="0"/>
              <a:t>3j osef quand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900A3F-BCA3-440D-FF9C-BBA71BF74218}"/>
              </a:ext>
            </a:extLst>
          </p:cNvPr>
          <p:cNvSpPr txBox="1"/>
          <p:nvPr/>
        </p:nvSpPr>
        <p:spPr>
          <a:xfrm>
            <a:off x="8227905" y="5266700"/>
            <a:ext cx="14553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philo</a:t>
            </a:r>
          </a:p>
          <a:p>
            <a:r>
              <a:rPr lang="en-CH" dirty="0"/>
              <a:t>6j osef quand</a:t>
            </a:r>
          </a:p>
        </p:txBody>
      </p:sp>
    </p:spTree>
    <p:extLst>
      <p:ext uri="{BB962C8B-B14F-4D97-AF65-F5344CB8AC3E}">
        <p14:creationId xmlns:p14="http://schemas.microsoft.com/office/powerpoint/2010/main" val="24819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8040F6-64D9-3587-50FD-40AA36936C1D}"/>
              </a:ext>
            </a:extLst>
          </p:cNvPr>
          <p:cNvSpPr txBox="1"/>
          <p:nvPr/>
        </p:nvSpPr>
        <p:spPr>
          <a:xfrm>
            <a:off x="729344" y="794657"/>
            <a:ext cx="524812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CH" sz="1000" strike="sngStrike" dirty="0"/>
              <a:t>Mettre à jour GDD (0.5)</a:t>
            </a:r>
          </a:p>
          <a:p>
            <a:pPr marL="285750" indent="-285750">
              <a:buFontTx/>
              <a:buChar char="-"/>
            </a:pPr>
            <a:r>
              <a:rPr lang="en-CH" sz="1000" strike="sngStrike" dirty="0"/>
              <a:t>Finir d’attribuer toutes les rooms (narrative data) (1)</a:t>
            </a:r>
          </a:p>
          <a:p>
            <a:pPr marL="285750" indent="-285750">
              <a:buFontTx/>
              <a:buChar char="-"/>
            </a:pPr>
            <a:r>
              <a:rPr lang="en-CH" sz="1000" strike="sngStrike" dirty="0"/>
              <a:t>Attribuer mediums et scores aux infos dans les rooms du proto (2)</a:t>
            </a:r>
          </a:p>
          <a:p>
            <a:pPr marL="285750" indent="-285750">
              <a:buFontTx/>
              <a:buChar char="-"/>
            </a:pPr>
            <a:r>
              <a:rPr lang="en-CH" sz="1000" dirty="0"/>
              <a:t>Rassembler les archives (1)</a:t>
            </a:r>
          </a:p>
          <a:p>
            <a:pPr marL="285750" indent="-285750">
              <a:buFontTx/>
              <a:buChar char="-"/>
            </a:pPr>
            <a:r>
              <a:rPr lang="en-CH" sz="1000" strike="sngStrike" dirty="0"/>
              <a:t>Définir méthode de création/sélection données (0.5)</a:t>
            </a:r>
          </a:p>
          <a:p>
            <a:pPr marL="285750" indent="-285750">
              <a:buFontTx/>
              <a:buChar char="-"/>
            </a:pPr>
            <a:r>
              <a:rPr lang="en-CH" sz="1000" strike="sngStrike" dirty="0"/>
              <a:t>Faire liste des décisions prises jusque-là (1)</a:t>
            </a:r>
          </a:p>
          <a:p>
            <a:pPr marL="285750" indent="-285750">
              <a:buFontTx/>
              <a:buChar char="-"/>
            </a:pPr>
            <a:r>
              <a:rPr lang="en-CH" sz="1000" strike="sngStrike" dirty="0"/>
              <a:t>Finaliser décisions design (1)</a:t>
            </a:r>
          </a:p>
          <a:p>
            <a:pPr marL="285750" indent="-285750">
              <a:buFontTx/>
              <a:buChar char="-"/>
            </a:pPr>
            <a:r>
              <a:rPr lang="en-CH" sz="1000" dirty="0"/>
              <a:t>Finir tablette (pas bien, juste le faire !) (1)</a:t>
            </a:r>
          </a:p>
          <a:p>
            <a:pPr marL="285750" indent="-285750">
              <a:buFontTx/>
              <a:buChar char="-"/>
            </a:pPr>
            <a:r>
              <a:rPr lang="en-CH" sz="1000" dirty="0"/>
              <a:t>Écrire textes en toki pona (3)</a:t>
            </a:r>
          </a:p>
          <a:p>
            <a:pPr marL="285750" indent="-285750">
              <a:buFontTx/>
              <a:buChar char="-"/>
            </a:pPr>
            <a:r>
              <a:rPr lang="en-CH" sz="1000" strike="sngStrike" dirty="0"/>
              <a:t>Whiteboxing (11)</a:t>
            </a:r>
          </a:p>
          <a:p>
            <a:pPr marL="742950" lvl="1" indent="-285750">
              <a:buFontTx/>
              <a:buChar char="-"/>
            </a:pPr>
            <a:r>
              <a:rPr lang="en-CH" sz="1000" strike="sngStrike" dirty="0"/>
              <a:t>Waiting Room (2)</a:t>
            </a:r>
          </a:p>
          <a:p>
            <a:pPr marL="742950" lvl="1" indent="-285750">
              <a:buFontTx/>
              <a:buChar char="-"/>
            </a:pPr>
            <a:r>
              <a:rPr lang="en-CH" sz="1000" strike="sngStrike" dirty="0"/>
              <a:t>Crafting Room (3)</a:t>
            </a:r>
          </a:p>
          <a:p>
            <a:pPr marL="742950" lvl="1" indent="-285750">
              <a:buFontTx/>
              <a:buChar char="-"/>
            </a:pPr>
            <a:r>
              <a:rPr lang="en-CH" sz="1000" strike="sngStrike" dirty="0"/>
              <a:t>Balcony (2)</a:t>
            </a:r>
          </a:p>
          <a:p>
            <a:pPr marL="742950" lvl="1" indent="-285750">
              <a:buFontTx/>
              <a:buChar char="-"/>
            </a:pPr>
            <a:r>
              <a:rPr lang="en-CH" sz="1000" dirty="0"/>
              <a:t>Waterfall (1)</a:t>
            </a:r>
          </a:p>
          <a:p>
            <a:pPr marL="742950" lvl="1" indent="-285750">
              <a:buFontTx/>
              <a:buChar char="-"/>
            </a:pPr>
            <a:r>
              <a:rPr lang="en-CH" sz="1000" strike="sngStrike" dirty="0"/>
              <a:t>Sacred Resting Place (1)</a:t>
            </a:r>
          </a:p>
          <a:p>
            <a:pPr marL="742950" lvl="1" indent="-285750">
              <a:buFontTx/>
              <a:buChar char="-"/>
            </a:pPr>
            <a:r>
              <a:rPr lang="en-CH" sz="1000" strike="sngStrike" dirty="0"/>
              <a:t>Stairs (2)</a:t>
            </a:r>
          </a:p>
          <a:p>
            <a:pPr marL="285750" indent="-285750">
              <a:buFontTx/>
              <a:buChar char="-"/>
            </a:pPr>
            <a:r>
              <a:rPr lang="en-CH" sz="1000" dirty="0"/>
              <a:t>Assets (13)</a:t>
            </a:r>
          </a:p>
          <a:p>
            <a:pPr marL="742950" lvl="1" indent="-285750">
              <a:buFontTx/>
              <a:buChar char="-"/>
            </a:pPr>
            <a:r>
              <a:rPr lang="en-CH" sz="1000" strike="sngStrike" dirty="0"/>
              <a:t>Waiting Room (2)</a:t>
            </a:r>
          </a:p>
          <a:p>
            <a:pPr marL="742950" lvl="1" indent="-285750">
              <a:buFontTx/>
              <a:buChar char="-"/>
            </a:pPr>
            <a:r>
              <a:rPr lang="en-CH" sz="1000" dirty="0"/>
              <a:t>Crafting Room (2)</a:t>
            </a:r>
          </a:p>
          <a:p>
            <a:pPr marL="742950" lvl="1" indent="-285750">
              <a:buFontTx/>
              <a:buChar char="-"/>
            </a:pPr>
            <a:r>
              <a:rPr lang="en-CH" sz="1000" dirty="0"/>
              <a:t>Balcony (1)</a:t>
            </a:r>
          </a:p>
          <a:p>
            <a:pPr marL="742950" lvl="1" indent="-285750">
              <a:buFontTx/>
              <a:buChar char="-"/>
            </a:pPr>
            <a:r>
              <a:rPr lang="en-CH" sz="1000" dirty="0"/>
              <a:t>Waterfall (3)</a:t>
            </a:r>
          </a:p>
          <a:p>
            <a:pPr marL="742950" lvl="1" indent="-285750">
              <a:buFontTx/>
              <a:buChar char="-"/>
            </a:pPr>
            <a:r>
              <a:rPr lang="en-CH" sz="1000" dirty="0"/>
              <a:t>Sacred Resting Place (2)</a:t>
            </a:r>
          </a:p>
          <a:p>
            <a:pPr marL="742950" lvl="1" indent="-285750">
              <a:buFontTx/>
              <a:buChar char="-"/>
            </a:pPr>
            <a:r>
              <a:rPr lang="en-CH" sz="1000" dirty="0"/>
              <a:t>Stairs (2)</a:t>
            </a:r>
          </a:p>
          <a:p>
            <a:pPr marL="285750" indent="-285750">
              <a:buFontTx/>
              <a:buChar char="-"/>
            </a:pPr>
            <a:r>
              <a:rPr lang="en-CH" sz="1000" dirty="0"/>
              <a:t>Lumière + assemblage (1 j par pièce) (6)</a:t>
            </a:r>
          </a:p>
          <a:p>
            <a:pPr marL="285750" indent="-285750">
              <a:buFontTx/>
              <a:buChar char="-"/>
            </a:pPr>
            <a:endParaRPr lang="en-CH" sz="1000" dirty="0"/>
          </a:p>
          <a:p>
            <a:pPr marL="285750" indent="-285750">
              <a:buFontTx/>
              <a:buChar char="-"/>
            </a:pPr>
            <a:r>
              <a:rPr lang="en-CH" sz="1000" dirty="0"/>
              <a:t>22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90324E-FB8C-E327-388F-152DDE83A97C}"/>
              </a:ext>
            </a:extLst>
          </p:cNvPr>
          <p:cNvSpPr txBox="1"/>
          <p:nvPr/>
        </p:nvSpPr>
        <p:spPr>
          <a:xfrm>
            <a:off x="6232678" y="879324"/>
            <a:ext cx="52481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CH" sz="1000" dirty="0"/>
              <a:t>Trouver et lire 2-3 articles recherche-création (se concentrer sur la forme et méthode) (1)</a:t>
            </a:r>
          </a:p>
          <a:p>
            <a:pPr marL="285750" indent="-285750">
              <a:buFontTx/>
              <a:buChar char="-"/>
            </a:pPr>
            <a:r>
              <a:rPr lang="en-CH" sz="1000" dirty="0"/>
              <a:t>Rassembler ludographie (0.5)</a:t>
            </a:r>
          </a:p>
          <a:p>
            <a:pPr marL="285750" indent="-285750">
              <a:buFontTx/>
              <a:buChar char="-"/>
            </a:pPr>
            <a:r>
              <a:rPr lang="en-CH" sz="1000" dirty="0"/>
              <a:t>Rassembler bibliographie (3)</a:t>
            </a:r>
          </a:p>
          <a:p>
            <a:pPr marL="285750" indent="-285750">
              <a:buFontTx/>
              <a:buChar char="-"/>
            </a:pPr>
            <a:r>
              <a:rPr lang="en-CH" sz="1000" dirty="0"/>
              <a:t>Définir structure du rapport (0.5)</a:t>
            </a:r>
          </a:p>
          <a:p>
            <a:pPr marL="285750" indent="-285750">
              <a:buFontTx/>
              <a:buChar char="-"/>
            </a:pPr>
            <a:r>
              <a:rPr lang="en-CH" sz="1000" dirty="0"/>
              <a:t>Écriture (5)</a:t>
            </a:r>
          </a:p>
          <a:p>
            <a:pPr marL="285750" indent="-285750">
              <a:buFontTx/>
              <a:buChar char="-"/>
            </a:pPr>
            <a:r>
              <a:rPr lang="en-CH" sz="1000" dirty="0"/>
              <a:t>Présentation (2)</a:t>
            </a:r>
          </a:p>
          <a:p>
            <a:pPr marL="285750" indent="-285750">
              <a:buFontTx/>
              <a:buChar char="-"/>
            </a:pPr>
            <a:endParaRPr lang="en-CH" sz="1000" dirty="0"/>
          </a:p>
          <a:p>
            <a:pPr marL="285750" indent="-285750">
              <a:buFontTx/>
              <a:buChar char="-"/>
            </a:pPr>
            <a:r>
              <a:rPr lang="en-CH" sz="1000" dirty="0"/>
              <a:t>12</a:t>
            </a:r>
          </a:p>
          <a:p>
            <a:pPr marL="742950" lvl="1" indent="-285750">
              <a:buFontTx/>
              <a:buChar char="-"/>
            </a:pPr>
            <a:endParaRPr lang="en-CH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F53F70-274A-1BA1-74D9-0CBC450FD083}"/>
              </a:ext>
            </a:extLst>
          </p:cNvPr>
          <p:cNvSpPr txBox="1"/>
          <p:nvPr/>
        </p:nvSpPr>
        <p:spPr>
          <a:xfrm>
            <a:off x="688258" y="4984955"/>
            <a:ext cx="124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-&gt; 14.02.26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0A1126-F081-F602-6033-ECC9EE66398F}"/>
              </a:ext>
            </a:extLst>
          </p:cNvPr>
          <p:cNvSpPr txBox="1"/>
          <p:nvPr/>
        </p:nvSpPr>
        <p:spPr>
          <a:xfrm>
            <a:off x="6410632" y="2487561"/>
            <a:ext cx="5227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5 sem avant présentation -&gt; 2 sem avant présentation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B300AF-61FC-3D7D-EFCE-23E62D88006F}"/>
              </a:ext>
            </a:extLst>
          </p:cNvPr>
          <p:cNvSpPr txBox="1"/>
          <p:nvPr/>
        </p:nvSpPr>
        <p:spPr>
          <a:xfrm>
            <a:off x="4524195" y="4727959"/>
            <a:ext cx="23338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Projet</a:t>
            </a:r>
          </a:p>
          <a:p>
            <a:r>
              <a:rPr lang="en-CH" dirty="0"/>
              <a:t>3 semaines osef quand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94111C-A185-9F71-5F37-6446F586296E}"/>
              </a:ext>
            </a:extLst>
          </p:cNvPr>
          <p:cNvSpPr txBox="1"/>
          <p:nvPr/>
        </p:nvSpPr>
        <p:spPr>
          <a:xfrm>
            <a:off x="7583721" y="4151925"/>
            <a:ext cx="24508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Stages</a:t>
            </a:r>
          </a:p>
          <a:p>
            <a:r>
              <a:rPr lang="en-CH" dirty="0"/>
              <a:t>10 semaines osef quand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6A8D47-29A7-2DD7-CC10-6AC3B1E34836}"/>
              </a:ext>
            </a:extLst>
          </p:cNvPr>
          <p:cNvSpPr txBox="1"/>
          <p:nvPr/>
        </p:nvSpPr>
        <p:spPr>
          <a:xfrm>
            <a:off x="627231" y="5542003"/>
            <a:ext cx="47085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Visu QUE SCATTERPLOT (avec cartes en dessous)</a:t>
            </a:r>
          </a:p>
          <a:p>
            <a:r>
              <a:rPr lang="en-CH" dirty="0"/>
              <a:t>3j osef quand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900A3F-BCA3-440D-FF9C-BBA71BF74218}"/>
              </a:ext>
            </a:extLst>
          </p:cNvPr>
          <p:cNvSpPr txBox="1"/>
          <p:nvPr/>
        </p:nvSpPr>
        <p:spPr>
          <a:xfrm>
            <a:off x="8227905" y="5266700"/>
            <a:ext cx="14553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philo</a:t>
            </a:r>
          </a:p>
          <a:p>
            <a:r>
              <a:rPr lang="en-CH" dirty="0"/>
              <a:t>6j osef quand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DB68A3-DFE7-38C8-1AE9-0B64D3E05AA2}"/>
              </a:ext>
            </a:extLst>
          </p:cNvPr>
          <p:cNvSpPr txBox="1"/>
          <p:nvPr/>
        </p:nvSpPr>
        <p:spPr>
          <a:xfrm>
            <a:off x="1080655" y="213755"/>
            <a:ext cx="2010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RÉVISION 25/01/26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FBAD6F-3A6C-D2CA-1C72-4E7168838BA4}"/>
              </a:ext>
            </a:extLst>
          </p:cNvPr>
          <p:cNvSpPr txBox="1"/>
          <p:nvPr/>
        </p:nvSpPr>
        <p:spPr>
          <a:xfrm>
            <a:off x="6863938" y="285008"/>
            <a:ext cx="1649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FIN D’ÉTUDES : </a:t>
            </a:r>
          </a:p>
        </p:txBody>
      </p:sp>
    </p:spTree>
    <p:extLst>
      <p:ext uri="{BB962C8B-B14F-4D97-AF65-F5344CB8AC3E}">
        <p14:creationId xmlns:p14="http://schemas.microsoft.com/office/powerpoint/2010/main" val="3730087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45CC-924C-66A5-FB8D-9E0D4EF12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8130" y="0"/>
            <a:ext cx="3527961" cy="822407"/>
          </a:xfrm>
        </p:spPr>
        <p:txBody>
          <a:bodyPr>
            <a:normAutofit/>
          </a:bodyPr>
          <a:lstStyle/>
          <a:p>
            <a:pPr algn="ctr"/>
            <a:r>
              <a:rPr lang="en-CH" sz="2000" dirty="0"/>
              <a:t>Reprise kanban 28/01/26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F6B6CC-B0D2-D82B-EFD7-D2A880EF3856}"/>
              </a:ext>
            </a:extLst>
          </p:cNvPr>
          <p:cNvSpPr txBox="1"/>
          <p:nvPr/>
        </p:nvSpPr>
        <p:spPr>
          <a:xfrm>
            <a:off x="665019" y="1496291"/>
            <a:ext cx="2218877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IJO MUSI – JEU – TOTAL = 24</a:t>
            </a:r>
          </a:p>
          <a:p>
            <a:pPr marL="285750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Assets TOTAL =  11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Squelette : 1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Crafting Room : 2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Pond : 1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Balcony : 2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Water &amp; Waterfall : 2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Stairs : 2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Textures : 1</a:t>
            </a:r>
          </a:p>
          <a:p>
            <a:pPr marL="285750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Écriture TOTAL = 3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awakening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blame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confession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last moments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playing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plants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death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mural</a:t>
            </a:r>
          </a:p>
          <a:p>
            <a:pPr marL="285750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Voix TOTAL = 4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awakening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blame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confession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last moments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playing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plants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death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mural</a:t>
            </a:r>
          </a:p>
          <a:p>
            <a:pPr marL="285750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Sons TOTAL = 2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Pas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Eau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Toggle tablette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Feu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Ambiance (cf grotte minecraft)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Musiques</a:t>
            </a:r>
          </a:p>
          <a:p>
            <a:pPr marL="285750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Tablette TOTAL = 2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Yellow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Red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Blue</a:t>
            </a:r>
          </a:p>
          <a:p>
            <a:pPr marL="285750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Assemblage TOTAL =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91067-1903-72C9-5AEA-612EF3CE495E}"/>
              </a:ext>
            </a:extLst>
          </p:cNvPr>
          <p:cNvSpPr txBox="1"/>
          <p:nvPr/>
        </p:nvSpPr>
        <p:spPr>
          <a:xfrm>
            <a:off x="6341424" y="468154"/>
            <a:ext cx="14766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800" dirty="0"/>
              <a:t>AUTRES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Excel miam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Abo gare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Call banque – carte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Call banque – E-banking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Impôts</a:t>
            </a:r>
          </a:p>
          <a:p>
            <a:pPr marL="285750" indent="-285750">
              <a:buFontTx/>
              <a:buChar char="-"/>
            </a:pPr>
            <a:endParaRPr lang="en-CH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04AFDD-DE59-BEF0-B01D-62624B365562}"/>
              </a:ext>
            </a:extLst>
          </p:cNvPr>
          <p:cNvSpPr txBox="1"/>
          <p:nvPr/>
        </p:nvSpPr>
        <p:spPr>
          <a:xfrm>
            <a:off x="7666531" y="486889"/>
            <a:ext cx="23166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800" dirty="0"/>
              <a:t>STAGES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Mail Yannick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Donner infos sur mes stages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Demander infos rapport de stage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Vérifier que tout est ok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3D89C7-CFDC-3281-DED7-623E6797CED2}"/>
              </a:ext>
            </a:extLst>
          </p:cNvPr>
          <p:cNvSpPr txBox="1"/>
          <p:nvPr/>
        </p:nvSpPr>
        <p:spPr>
          <a:xfrm>
            <a:off x="9999023" y="581892"/>
            <a:ext cx="1117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800" dirty="0"/>
              <a:t>WEEKLY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Orga parent.e.s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Orga potes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156AC8-7F2B-DD8A-6E01-DCB51EFBF87B}"/>
              </a:ext>
            </a:extLst>
          </p:cNvPr>
          <p:cNvSpPr txBox="1"/>
          <p:nvPr/>
        </p:nvSpPr>
        <p:spPr>
          <a:xfrm>
            <a:off x="2695699" y="1496290"/>
            <a:ext cx="26244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IJO MUSI – RAPPORT – TOTAL = 12</a:t>
            </a:r>
          </a:p>
          <a:p>
            <a:pPr marL="285750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Rassembler mes archives - 0</a:t>
            </a:r>
          </a:p>
          <a:p>
            <a:pPr marL="285750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Trouver et lire 2-3 articles recherche-création (se concentrer sur la forme et méthode) (1)</a:t>
            </a:r>
          </a:p>
          <a:p>
            <a:pPr marL="285750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Rassembler ludographie (0.5)</a:t>
            </a:r>
          </a:p>
          <a:p>
            <a:pPr marL="285750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Rassembler bibliographie (3)</a:t>
            </a:r>
          </a:p>
          <a:p>
            <a:pPr marL="285750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Définir structure du rapport (0.5)</a:t>
            </a:r>
          </a:p>
          <a:p>
            <a:pPr marL="285750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Écriture (5)</a:t>
            </a:r>
          </a:p>
          <a:p>
            <a:pPr marL="285750" indent="-285750">
              <a:buFontTx/>
              <a:buChar char="-"/>
            </a:pPr>
            <a:r>
              <a:rPr lang="en-CH" sz="800" dirty="0">
                <a:solidFill>
                  <a:schemeClr val="accent6">
                    <a:lumMod val="75000"/>
                  </a:schemeClr>
                </a:solidFill>
              </a:rPr>
              <a:t>Présentation (2)</a:t>
            </a:r>
          </a:p>
          <a:p>
            <a:endParaRPr lang="en-CH" sz="8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37C839-BE49-89D9-3829-9A59E7C27625}"/>
              </a:ext>
            </a:extLst>
          </p:cNvPr>
          <p:cNvSpPr txBox="1"/>
          <p:nvPr/>
        </p:nvSpPr>
        <p:spPr>
          <a:xfrm>
            <a:off x="7600209" y="0"/>
            <a:ext cx="4475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Trucs à mettre sur kanban mais pas à planifier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1BA0F0-A9C9-1EA7-0840-5E5E8F74146F}"/>
              </a:ext>
            </a:extLst>
          </p:cNvPr>
          <p:cNvSpPr txBox="1"/>
          <p:nvPr/>
        </p:nvSpPr>
        <p:spPr>
          <a:xfrm>
            <a:off x="2624446" y="3087584"/>
            <a:ext cx="4540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VISU – SCATERPLOT UNIQUEMENT – TOTAL = 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53A949-CCB5-97BA-857F-C49CA81616F9}"/>
              </a:ext>
            </a:extLst>
          </p:cNvPr>
          <p:cNvSpPr txBox="1"/>
          <p:nvPr/>
        </p:nvSpPr>
        <p:spPr>
          <a:xfrm>
            <a:off x="2743200" y="3633850"/>
            <a:ext cx="1886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PHILO – TOTAL = 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5350B9-AF69-F0A0-0583-3DBA0C34439E}"/>
              </a:ext>
            </a:extLst>
          </p:cNvPr>
          <p:cNvSpPr txBox="1"/>
          <p:nvPr/>
        </p:nvSpPr>
        <p:spPr>
          <a:xfrm>
            <a:off x="3408218" y="4595750"/>
            <a:ext cx="30595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MÉMOIRE – 1 semestre</a:t>
            </a:r>
          </a:p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début : 14 septembre 26</a:t>
            </a:r>
          </a:p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fin des cours : 18 décembre 26</a:t>
            </a:r>
          </a:p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début examens : 15 janvier 26</a:t>
            </a:r>
          </a:p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 fin examnes : 6 février 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3FFE6-3F73-118D-1960-82049E609467}"/>
              </a:ext>
            </a:extLst>
          </p:cNvPr>
          <p:cNvSpPr txBox="1"/>
          <p:nvPr/>
        </p:nvSpPr>
        <p:spPr>
          <a:xfrm>
            <a:off x="8348353" y="2553195"/>
            <a:ext cx="2510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SPEC – CIRA - TOTAL = 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E51229-0B9D-991A-48BB-42DD54AA332F}"/>
              </a:ext>
            </a:extLst>
          </p:cNvPr>
          <p:cNvSpPr txBox="1"/>
          <p:nvPr/>
        </p:nvSpPr>
        <p:spPr>
          <a:xfrm>
            <a:off x="8170224" y="3301340"/>
            <a:ext cx="3446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STAGES – DamaDama – TOTAL = 15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1E5750-3A96-13A8-4A01-8C221B068534}"/>
              </a:ext>
            </a:extLst>
          </p:cNvPr>
          <p:cNvSpPr txBox="1"/>
          <p:nvPr/>
        </p:nvSpPr>
        <p:spPr>
          <a:xfrm>
            <a:off x="8156370" y="3928753"/>
            <a:ext cx="3131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STAGES – Naraven – TOTAL = 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7B72F6-2CAE-A18F-1EF6-79EB2D94581F}"/>
              </a:ext>
            </a:extLst>
          </p:cNvPr>
          <p:cNvSpPr txBox="1"/>
          <p:nvPr/>
        </p:nvSpPr>
        <p:spPr>
          <a:xfrm>
            <a:off x="8154391" y="4520540"/>
            <a:ext cx="3424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STAGES – Sémaphore – TOTAL = 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73D3DA-FDCC-C74A-7C9B-685F25ACDD05}"/>
              </a:ext>
            </a:extLst>
          </p:cNvPr>
          <p:cNvSpPr txBox="1"/>
          <p:nvPr/>
        </p:nvSpPr>
        <p:spPr>
          <a:xfrm>
            <a:off x="7872413" y="1843088"/>
            <a:ext cx="3818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SPEC – “COURS” – TOTAL = 17 (16 mtn)</a:t>
            </a:r>
          </a:p>
        </p:txBody>
      </p:sp>
    </p:spTree>
    <p:extLst>
      <p:ext uri="{BB962C8B-B14F-4D97-AF65-F5344CB8AC3E}">
        <p14:creationId xmlns:p14="http://schemas.microsoft.com/office/powerpoint/2010/main" val="3950103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CBEBCE2-FDE3-8B49-FE37-6FFC8AD24F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542488"/>
              </p:ext>
            </p:extLst>
          </p:nvPr>
        </p:nvGraphicFramePr>
        <p:xfrm>
          <a:off x="128587" y="1868487"/>
          <a:ext cx="11849103" cy="230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567">
                  <a:extLst>
                    <a:ext uri="{9D8B030D-6E8A-4147-A177-3AD203B41FA5}">
                      <a16:colId xmlns:a16="http://schemas.microsoft.com/office/drawing/2014/main" val="4059797125"/>
                    </a:ext>
                  </a:extLst>
                </a:gridCol>
                <a:gridCol w="1316567">
                  <a:extLst>
                    <a:ext uri="{9D8B030D-6E8A-4147-A177-3AD203B41FA5}">
                      <a16:colId xmlns:a16="http://schemas.microsoft.com/office/drawing/2014/main" val="3886050130"/>
                    </a:ext>
                  </a:extLst>
                </a:gridCol>
                <a:gridCol w="1316567">
                  <a:extLst>
                    <a:ext uri="{9D8B030D-6E8A-4147-A177-3AD203B41FA5}">
                      <a16:colId xmlns:a16="http://schemas.microsoft.com/office/drawing/2014/main" val="1508651909"/>
                    </a:ext>
                  </a:extLst>
                </a:gridCol>
                <a:gridCol w="1316567">
                  <a:extLst>
                    <a:ext uri="{9D8B030D-6E8A-4147-A177-3AD203B41FA5}">
                      <a16:colId xmlns:a16="http://schemas.microsoft.com/office/drawing/2014/main" val="2062040089"/>
                    </a:ext>
                  </a:extLst>
                </a:gridCol>
                <a:gridCol w="1316567">
                  <a:extLst>
                    <a:ext uri="{9D8B030D-6E8A-4147-A177-3AD203B41FA5}">
                      <a16:colId xmlns:a16="http://schemas.microsoft.com/office/drawing/2014/main" val="2737023149"/>
                    </a:ext>
                  </a:extLst>
                </a:gridCol>
                <a:gridCol w="1316567">
                  <a:extLst>
                    <a:ext uri="{9D8B030D-6E8A-4147-A177-3AD203B41FA5}">
                      <a16:colId xmlns:a16="http://schemas.microsoft.com/office/drawing/2014/main" val="3887682633"/>
                    </a:ext>
                  </a:extLst>
                </a:gridCol>
                <a:gridCol w="1316567">
                  <a:extLst>
                    <a:ext uri="{9D8B030D-6E8A-4147-A177-3AD203B41FA5}">
                      <a16:colId xmlns:a16="http://schemas.microsoft.com/office/drawing/2014/main" val="5628773"/>
                    </a:ext>
                  </a:extLst>
                </a:gridCol>
                <a:gridCol w="1316567">
                  <a:extLst>
                    <a:ext uri="{9D8B030D-6E8A-4147-A177-3AD203B41FA5}">
                      <a16:colId xmlns:a16="http://schemas.microsoft.com/office/drawing/2014/main" val="1453961281"/>
                    </a:ext>
                  </a:extLst>
                </a:gridCol>
                <a:gridCol w="1316567">
                  <a:extLst>
                    <a:ext uri="{9D8B030D-6E8A-4147-A177-3AD203B41FA5}">
                      <a16:colId xmlns:a16="http://schemas.microsoft.com/office/drawing/2014/main" val="1068511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JANVIER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FÉVRIER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MARS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AVRIL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MAI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JUIN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JUILLET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AOÛT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SEPTEMBRE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54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2607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881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H" dirty="0"/>
                        <a:t>IJO MUSI (2)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dirty="0"/>
                        <a:t>IJO MUSI (10)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CH" dirty="0"/>
                        <a:t>IJO MUSI (17)</a:t>
                      </a:r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IJO MUSI (7), VISU (3), PHILO (6)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Projet (15)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Projet (15)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SPEC 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SPEC (7)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36768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AEDAF53-4A96-CF91-4D5D-7DD7B9C51327}"/>
              </a:ext>
            </a:extLst>
          </p:cNvPr>
          <p:cNvSpPr txBox="1"/>
          <p:nvPr/>
        </p:nvSpPr>
        <p:spPr>
          <a:xfrm>
            <a:off x="4857750" y="771526"/>
            <a:ext cx="3575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Total (stages déjà attrribués) = 132 ?</a:t>
            </a:r>
          </a:p>
        </p:txBody>
      </p:sp>
    </p:spTree>
    <p:extLst>
      <p:ext uri="{BB962C8B-B14F-4D97-AF65-F5344CB8AC3E}">
        <p14:creationId xmlns:p14="http://schemas.microsoft.com/office/powerpoint/2010/main" val="1947291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45CC-924C-66A5-FB8D-9E0D4EF12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8130" y="0"/>
            <a:ext cx="3527961" cy="822407"/>
          </a:xfrm>
        </p:spPr>
        <p:txBody>
          <a:bodyPr>
            <a:normAutofit/>
          </a:bodyPr>
          <a:lstStyle/>
          <a:p>
            <a:pPr algn="ctr"/>
            <a:r>
              <a:rPr lang="en-CH" sz="2000" dirty="0"/>
              <a:t>Reprise kanban 11/02/26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F6B6CC-B0D2-D82B-EFD7-D2A880EF3856}"/>
              </a:ext>
            </a:extLst>
          </p:cNvPr>
          <p:cNvSpPr txBox="1"/>
          <p:nvPr/>
        </p:nvSpPr>
        <p:spPr>
          <a:xfrm>
            <a:off x="665019" y="1496291"/>
            <a:ext cx="2218877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800" dirty="0"/>
              <a:t>IJO MUSI – JEU – TOTAL = 22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Assets TOTAL =  11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Squelette : 1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Crafting Room : 2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Pond : 1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Balcony : 2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Water &amp; Waterfall : 2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Stairs : 2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Textures : 1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Écriture TOTAL = 1</a:t>
            </a:r>
          </a:p>
          <a:p>
            <a:pPr marL="742950" lvl="1" indent="-285750">
              <a:buFontTx/>
              <a:buChar char="-"/>
            </a:pPr>
            <a:r>
              <a:rPr lang="en-CH" sz="800" strike="sngStrike" dirty="0"/>
              <a:t>awakening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blame</a:t>
            </a:r>
          </a:p>
          <a:p>
            <a:pPr marL="742950" lvl="1" indent="-285750">
              <a:buFontTx/>
              <a:buChar char="-"/>
            </a:pPr>
            <a:r>
              <a:rPr lang="en-CH" sz="800" strike="sngStrike" dirty="0"/>
              <a:t>confession</a:t>
            </a:r>
          </a:p>
          <a:p>
            <a:pPr marL="742950" lvl="1" indent="-285750">
              <a:buFontTx/>
              <a:buChar char="-"/>
            </a:pPr>
            <a:r>
              <a:rPr lang="en-CH" sz="800" strike="sngStrike" dirty="0"/>
              <a:t>last moments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playing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plants</a:t>
            </a:r>
          </a:p>
          <a:p>
            <a:pPr marL="742950" lvl="1" indent="-285750">
              <a:buFontTx/>
              <a:buChar char="-"/>
            </a:pPr>
            <a:r>
              <a:rPr lang="en-CH" sz="800" strike="sngStrike" dirty="0"/>
              <a:t>death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mural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Voix TOTAL = 4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awakening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blame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confession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last moments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playing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plants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death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mural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Sons TOTAL = 2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Pas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Eau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Toggle tablette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Feu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Ambiance (cf grotte minecraft)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Musiques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Tablette TOTAL = 2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Yellow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Red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Blue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Assemblage TOTAL =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91067-1903-72C9-5AEA-612EF3CE495E}"/>
              </a:ext>
            </a:extLst>
          </p:cNvPr>
          <p:cNvSpPr txBox="1"/>
          <p:nvPr/>
        </p:nvSpPr>
        <p:spPr>
          <a:xfrm>
            <a:off x="6341424" y="468154"/>
            <a:ext cx="147668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800" dirty="0"/>
              <a:t>AUTRES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Excel miam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Abo gare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Call banque – carte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Call banque – E-banking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Impôts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Notes wwed pour psy</a:t>
            </a:r>
          </a:p>
          <a:p>
            <a:pPr marL="285750" indent="-285750">
              <a:buFontTx/>
              <a:buChar char="-"/>
            </a:pPr>
            <a:endParaRPr lang="en-CH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04AFDD-DE59-BEF0-B01D-62624B365562}"/>
              </a:ext>
            </a:extLst>
          </p:cNvPr>
          <p:cNvSpPr txBox="1"/>
          <p:nvPr/>
        </p:nvSpPr>
        <p:spPr>
          <a:xfrm>
            <a:off x="7666531" y="486889"/>
            <a:ext cx="23166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800" dirty="0"/>
              <a:t>STAGES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Mail Yannick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Donner infos sur mes stages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Demander infos rapport de stage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Vérifier que tout est ok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3D89C7-CFDC-3281-DED7-623E6797CED2}"/>
              </a:ext>
            </a:extLst>
          </p:cNvPr>
          <p:cNvSpPr txBox="1"/>
          <p:nvPr/>
        </p:nvSpPr>
        <p:spPr>
          <a:xfrm>
            <a:off x="9999023" y="581892"/>
            <a:ext cx="1117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800" dirty="0"/>
              <a:t>WEEKLY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Orga parent.e.s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Orga potes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156AC8-7F2B-DD8A-6E01-DCB51EFBF87B}"/>
              </a:ext>
            </a:extLst>
          </p:cNvPr>
          <p:cNvSpPr txBox="1"/>
          <p:nvPr/>
        </p:nvSpPr>
        <p:spPr>
          <a:xfrm>
            <a:off x="2695699" y="1496290"/>
            <a:ext cx="26244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800" dirty="0"/>
              <a:t>IJO MUSI – RAPPORT – TOTAL = 12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Rassembler mes archives - 0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Trouver et lire 2-3 articles recherche-création (se concentrer sur la forme et méthode) (1)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Rassembler ludographie (0.5)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Rassembler bibliographie (3)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Définir structure du rapport (0.5)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Écriture (5)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Présentation (2)</a:t>
            </a:r>
          </a:p>
          <a:p>
            <a:endParaRPr lang="en-CH" sz="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37C839-BE49-89D9-3829-9A59E7C27625}"/>
              </a:ext>
            </a:extLst>
          </p:cNvPr>
          <p:cNvSpPr txBox="1"/>
          <p:nvPr/>
        </p:nvSpPr>
        <p:spPr>
          <a:xfrm>
            <a:off x="7600209" y="0"/>
            <a:ext cx="4475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Trucs à mettre sur kanban mais pas à planifier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1BA0F0-A9C9-1EA7-0840-5E5E8F74146F}"/>
              </a:ext>
            </a:extLst>
          </p:cNvPr>
          <p:cNvSpPr txBox="1"/>
          <p:nvPr/>
        </p:nvSpPr>
        <p:spPr>
          <a:xfrm>
            <a:off x="2624446" y="3087584"/>
            <a:ext cx="4540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VISU – SCATERPLOT UNIQUEMENT – TOTAL = 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53A949-CCB5-97BA-857F-C49CA81616F9}"/>
              </a:ext>
            </a:extLst>
          </p:cNvPr>
          <p:cNvSpPr txBox="1"/>
          <p:nvPr/>
        </p:nvSpPr>
        <p:spPr>
          <a:xfrm>
            <a:off x="2743200" y="3633850"/>
            <a:ext cx="1886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PHILO – TOTAL = 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5350B9-AF69-F0A0-0583-3DBA0C34439E}"/>
              </a:ext>
            </a:extLst>
          </p:cNvPr>
          <p:cNvSpPr txBox="1"/>
          <p:nvPr/>
        </p:nvSpPr>
        <p:spPr>
          <a:xfrm>
            <a:off x="3408218" y="4595750"/>
            <a:ext cx="30595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MÉMOIRE – 1 semestre</a:t>
            </a:r>
          </a:p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début : 14 septembre 26</a:t>
            </a:r>
          </a:p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fin des cours : 18 décembre 26</a:t>
            </a:r>
          </a:p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début examens : 15 janvier 26</a:t>
            </a:r>
          </a:p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 fin examnes : 6 février 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3FFE6-3F73-118D-1960-82049E609467}"/>
              </a:ext>
            </a:extLst>
          </p:cNvPr>
          <p:cNvSpPr txBox="1"/>
          <p:nvPr/>
        </p:nvSpPr>
        <p:spPr>
          <a:xfrm>
            <a:off x="8348353" y="2553195"/>
            <a:ext cx="2510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SPEC – CIRA - TOTAL = 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E51229-0B9D-991A-48BB-42DD54AA332F}"/>
              </a:ext>
            </a:extLst>
          </p:cNvPr>
          <p:cNvSpPr txBox="1"/>
          <p:nvPr/>
        </p:nvSpPr>
        <p:spPr>
          <a:xfrm>
            <a:off x="8170224" y="3301340"/>
            <a:ext cx="3446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STAGES – DamaDama – TOTAL = 15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1E5750-3A96-13A8-4A01-8C221B068534}"/>
              </a:ext>
            </a:extLst>
          </p:cNvPr>
          <p:cNvSpPr txBox="1"/>
          <p:nvPr/>
        </p:nvSpPr>
        <p:spPr>
          <a:xfrm>
            <a:off x="8156370" y="3928753"/>
            <a:ext cx="3131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STAGES – Naraven – TOTAL = 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7B72F6-2CAE-A18F-1EF6-79EB2D94581F}"/>
              </a:ext>
            </a:extLst>
          </p:cNvPr>
          <p:cNvSpPr txBox="1"/>
          <p:nvPr/>
        </p:nvSpPr>
        <p:spPr>
          <a:xfrm>
            <a:off x="8154391" y="4520540"/>
            <a:ext cx="3424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STAGES – Sémaphore – TOTAL = 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73D3DA-FDCC-C74A-7C9B-685F25ACDD05}"/>
              </a:ext>
            </a:extLst>
          </p:cNvPr>
          <p:cNvSpPr txBox="1"/>
          <p:nvPr/>
        </p:nvSpPr>
        <p:spPr>
          <a:xfrm>
            <a:off x="7872413" y="1843088"/>
            <a:ext cx="29561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SPEC – “COURS” – TOTAL = 14</a:t>
            </a:r>
          </a:p>
          <a:p>
            <a:r>
              <a:rPr lang="en-CH" sz="1000" dirty="0"/>
              <a:t>	- 55 heures. 4h / jour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671A90-F7B4-FE99-2E1F-D05D56FA0876}"/>
              </a:ext>
            </a:extLst>
          </p:cNvPr>
          <p:cNvSpPr txBox="1"/>
          <p:nvPr/>
        </p:nvSpPr>
        <p:spPr>
          <a:xfrm>
            <a:off x="9157855" y="5888183"/>
            <a:ext cx="2459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TOTAL (sans stages) = 87</a:t>
            </a:r>
          </a:p>
        </p:txBody>
      </p:sp>
    </p:spTree>
    <p:extLst>
      <p:ext uri="{BB962C8B-B14F-4D97-AF65-F5344CB8AC3E}">
        <p14:creationId xmlns:p14="http://schemas.microsoft.com/office/powerpoint/2010/main" val="1068111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CBEBCE2-FDE3-8B49-FE37-6FFC8AD24F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344756"/>
              </p:ext>
            </p:extLst>
          </p:nvPr>
        </p:nvGraphicFramePr>
        <p:xfrm>
          <a:off x="128587" y="1868487"/>
          <a:ext cx="1053253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567">
                  <a:extLst>
                    <a:ext uri="{9D8B030D-6E8A-4147-A177-3AD203B41FA5}">
                      <a16:colId xmlns:a16="http://schemas.microsoft.com/office/drawing/2014/main" val="3886050130"/>
                    </a:ext>
                  </a:extLst>
                </a:gridCol>
                <a:gridCol w="1316567">
                  <a:extLst>
                    <a:ext uri="{9D8B030D-6E8A-4147-A177-3AD203B41FA5}">
                      <a16:colId xmlns:a16="http://schemas.microsoft.com/office/drawing/2014/main" val="1508651909"/>
                    </a:ext>
                  </a:extLst>
                </a:gridCol>
                <a:gridCol w="1316567">
                  <a:extLst>
                    <a:ext uri="{9D8B030D-6E8A-4147-A177-3AD203B41FA5}">
                      <a16:colId xmlns:a16="http://schemas.microsoft.com/office/drawing/2014/main" val="2062040089"/>
                    </a:ext>
                  </a:extLst>
                </a:gridCol>
                <a:gridCol w="1316567">
                  <a:extLst>
                    <a:ext uri="{9D8B030D-6E8A-4147-A177-3AD203B41FA5}">
                      <a16:colId xmlns:a16="http://schemas.microsoft.com/office/drawing/2014/main" val="2737023149"/>
                    </a:ext>
                  </a:extLst>
                </a:gridCol>
                <a:gridCol w="1316567">
                  <a:extLst>
                    <a:ext uri="{9D8B030D-6E8A-4147-A177-3AD203B41FA5}">
                      <a16:colId xmlns:a16="http://schemas.microsoft.com/office/drawing/2014/main" val="3887682633"/>
                    </a:ext>
                  </a:extLst>
                </a:gridCol>
                <a:gridCol w="1316567">
                  <a:extLst>
                    <a:ext uri="{9D8B030D-6E8A-4147-A177-3AD203B41FA5}">
                      <a16:colId xmlns:a16="http://schemas.microsoft.com/office/drawing/2014/main" val="5628773"/>
                    </a:ext>
                  </a:extLst>
                </a:gridCol>
                <a:gridCol w="1316567">
                  <a:extLst>
                    <a:ext uri="{9D8B030D-6E8A-4147-A177-3AD203B41FA5}">
                      <a16:colId xmlns:a16="http://schemas.microsoft.com/office/drawing/2014/main" val="1453961281"/>
                    </a:ext>
                  </a:extLst>
                </a:gridCol>
                <a:gridCol w="1316567">
                  <a:extLst>
                    <a:ext uri="{9D8B030D-6E8A-4147-A177-3AD203B41FA5}">
                      <a16:colId xmlns:a16="http://schemas.microsoft.com/office/drawing/2014/main" val="1068511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FÉVRIER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MARS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AVRIL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MAI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JUIN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JUILLET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AOÛT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SEPTEMBRE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54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2607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881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36768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CBD22D0-EF2A-A119-E03F-35AD144DFAE6}"/>
              </a:ext>
            </a:extLst>
          </p:cNvPr>
          <p:cNvSpPr txBox="1"/>
          <p:nvPr/>
        </p:nvSpPr>
        <p:spPr>
          <a:xfrm>
            <a:off x="2078182" y="858982"/>
            <a:ext cx="4809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Total (stages + 1j congé / semaine attribués) = 92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5DDD52-DD57-A31C-20EF-947303B462CD}"/>
              </a:ext>
            </a:extLst>
          </p:cNvPr>
          <p:cNvSpPr txBox="1"/>
          <p:nvPr/>
        </p:nvSpPr>
        <p:spPr>
          <a:xfrm>
            <a:off x="2812473" y="4184073"/>
            <a:ext cx="1467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5 Jours bonus</a:t>
            </a:r>
          </a:p>
        </p:txBody>
      </p:sp>
    </p:spTree>
    <p:extLst>
      <p:ext uri="{BB962C8B-B14F-4D97-AF65-F5344CB8AC3E}">
        <p14:creationId xmlns:p14="http://schemas.microsoft.com/office/powerpoint/2010/main" val="65708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45CC-924C-66A5-FB8D-9E0D4EF12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8130" y="0"/>
            <a:ext cx="3527961" cy="822407"/>
          </a:xfrm>
        </p:spPr>
        <p:txBody>
          <a:bodyPr>
            <a:normAutofit/>
          </a:bodyPr>
          <a:lstStyle/>
          <a:p>
            <a:pPr algn="ctr"/>
            <a:r>
              <a:rPr lang="en-CH" sz="2000" dirty="0"/>
              <a:t>Reprise kanban 02/03/26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F6B6CC-B0D2-D82B-EFD7-D2A880EF3856}"/>
              </a:ext>
            </a:extLst>
          </p:cNvPr>
          <p:cNvSpPr txBox="1"/>
          <p:nvPr/>
        </p:nvSpPr>
        <p:spPr>
          <a:xfrm>
            <a:off x="665019" y="1496291"/>
            <a:ext cx="2218877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800" dirty="0"/>
              <a:t>IJO MUSI – JEU – TOTAL = 22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Assets TOTAL =  11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Squelette : 1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bg2">
                    <a:lumMod val="75000"/>
                  </a:schemeClr>
                </a:solidFill>
              </a:rPr>
              <a:t>Crafting Room : 2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Pond : 1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Balcony : 2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Water &amp; Waterfall : 2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Stairs : 2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Textures : 1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Écriture TOTAL = 1</a:t>
            </a:r>
          </a:p>
          <a:p>
            <a:pPr marL="742950" lvl="1" indent="-285750">
              <a:buFontTx/>
              <a:buChar char="-"/>
            </a:pPr>
            <a:r>
              <a:rPr lang="en-CH" sz="800" strike="sngStrike" dirty="0"/>
              <a:t>awakening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blame</a:t>
            </a:r>
          </a:p>
          <a:p>
            <a:pPr marL="742950" lvl="1" indent="-285750">
              <a:buFontTx/>
              <a:buChar char="-"/>
            </a:pPr>
            <a:r>
              <a:rPr lang="en-CH" sz="800" strike="sngStrike" dirty="0"/>
              <a:t>confession</a:t>
            </a:r>
          </a:p>
          <a:p>
            <a:pPr marL="742950" lvl="1" indent="-285750">
              <a:buFontTx/>
              <a:buChar char="-"/>
            </a:pPr>
            <a:r>
              <a:rPr lang="en-CH" sz="800" strike="sngStrike" dirty="0"/>
              <a:t>last moments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playing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plants</a:t>
            </a:r>
          </a:p>
          <a:p>
            <a:pPr marL="742950" lvl="1" indent="-285750">
              <a:buFontTx/>
              <a:buChar char="-"/>
            </a:pPr>
            <a:r>
              <a:rPr lang="en-CH" sz="800" strike="sngStrike" dirty="0"/>
              <a:t>death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mural</a:t>
            </a:r>
          </a:p>
          <a:p>
            <a:pPr marL="285750" indent="-285750">
              <a:buFontTx/>
              <a:buChar char="-"/>
            </a:pPr>
            <a:r>
              <a:rPr lang="en-CH" sz="800" dirty="0">
                <a:solidFill>
                  <a:schemeClr val="bg2">
                    <a:lumMod val="75000"/>
                  </a:schemeClr>
                </a:solidFill>
              </a:rPr>
              <a:t>Voix TOTAL = 4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bg2">
                    <a:lumMod val="75000"/>
                  </a:schemeClr>
                </a:solidFill>
              </a:rPr>
              <a:t>awakening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bg2">
                    <a:lumMod val="75000"/>
                  </a:schemeClr>
                </a:solidFill>
              </a:rPr>
              <a:t>blame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bg2">
                    <a:lumMod val="75000"/>
                  </a:schemeClr>
                </a:solidFill>
              </a:rPr>
              <a:t>confession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bg2">
                    <a:lumMod val="75000"/>
                  </a:schemeClr>
                </a:solidFill>
              </a:rPr>
              <a:t>last moments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bg2">
                    <a:lumMod val="75000"/>
                  </a:schemeClr>
                </a:solidFill>
              </a:rPr>
              <a:t>playing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bg2">
                    <a:lumMod val="75000"/>
                  </a:schemeClr>
                </a:solidFill>
              </a:rPr>
              <a:t>plants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bg2">
                    <a:lumMod val="75000"/>
                  </a:schemeClr>
                </a:solidFill>
              </a:rPr>
              <a:t>death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bg2">
                    <a:lumMod val="75000"/>
                  </a:schemeClr>
                </a:solidFill>
              </a:rPr>
              <a:t>mural</a:t>
            </a:r>
          </a:p>
          <a:p>
            <a:pPr marL="285750" indent="-285750">
              <a:buFontTx/>
              <a:buChar char="-"/>
            </a:pPr>
            <a:r>
              <a:rPr lang="en-CH" sz="800" dirty="0">
                <a:solidFill>
                  <a:schemeClr val="bg2">
                    <a:lumMod val="75000"/>
                  </a:schemeClr>
                </a:solidFill>
              </a:rPr>
              <a:t>Sons TOTAL = 2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bg2">
                    <a:lumMod val="75000"/>
                  </a:schemeClr>
                </a:solidFill>
              </a:rPr>
              <a:t>Pas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bg2">
                    <a:lumMod val="75000"/>
                  </a:schemeClr>
                </a:solidFill>
              </a:rPr>
              <a:t>Eau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bg2">
                    <a:lumMod val="75000"/>
                  </a:schemeClr>
                </a:solidFill>
              </a:rPr>
              <a:t>Toggle tablette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bg2">
                    <a:lumMod val="75000"/>
                  </a:schemeClr>
                </a:solidFill>
              </a:rPr>
              <a:t>Feu</a:t>
            </a:r>
          </a:p>
          <a:p>
            <a:pPr marL="742950" lvl="1" indent="-285750">
              <a:buFontTx/>
              <a:buChar char="-"/>
            </a:pPr>
            <a:r>
              <a:rPr lang="en-CH" sz="800" dirty="0">
                <a:solidFill>
                  <a:schemeClr val="bg2">
                    <a:lumMod val="75000"/>
                  </a:schemeClr>
                </a:solidFill>
              </a:rPr>
              <a:t>Ambiance (cf grotte minecraft)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Musiques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Tablette TOTAL = 2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Yellow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Red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Blue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Assemblage TOTAL = 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91067-1903-72C9-5AEA-612EF3CE495E}"/>
              </a:ext>
            </a:extLst>
          </p:cNvPr>
          <p:cNvSpPr txBox="1"/>
          <p:nvPr/>
        </p:nvSpPr>
        <p:spPr>
          <a:xfrm>
            <a:off x="6341424" y="468154"/>
            <a:ext cx="147668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800" dirty="0"/>
              <a:t>AUTRES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Excel miam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Abo gare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Call banque – carte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Call banque – E-banking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Impôts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Notes wwed pour psy</a:t>
            </a:r>
          </a:p>
          <a:p>
            <a:pPr marL="285750" indent="-285750">
              <a:buFontTx/>
              <a:buChar char="-"/>
            </a:pPr>
            <a:endParaRPr lang="en-CH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04AFDD-DE59-BEF0-B01D-62624B365562}"/>
              </a:ext>
            </a:extLst>
          </p:cNvPr>
          <p:cNvSpPr txBox="1"/>
          <p:nvPr/>
        </p:nvSpPr>
        <p:spPr>
          <a:xfrm>
            <a:off x="7666531" y="486889"/>
            <a:ext cx="23166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800" dirty="0"/>
              <a:t>STAGES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Mail Yannick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Donner infos sur mes stages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Demander infos rapport de stage</a:t>
            </a:r>
          </a:p>
          <a:p>
            <a:pPr marL="742950" lvl="1" indent="-285750">
              <a:buFontTx/>
              <a:buChar char="-"/>
            </a:pPr>
            <a:r>
              <a:rPr lang="en-CH" sz="800" dirty="0"/>
              <a:t>Vérifier que tout est ok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3D89C7-CFDC-3281-DED7-623E6797CED2}"/>
              </a:ext>
            </a:extLst>
          </p:cNvPr>
          <p:cNvSpPr txBox="1"/>
          <p:nvPr/>
        </p:nvSpPr>
        <p:spPr>
          <a:xfrm>
            <a:off x="9999023" y="581892"/>
            <a:ext cx="1117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800" dirty="0"/>
              <a:t>WEEKLY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Orga parent.e.s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Orga potes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156AC8-7F2B-DD8A-6E01-DCB51EFBF87B}"/>
              </a:ext>
            </a:extLst>
          </p:cNvPr>
          <p:cNvSpPr txBox="1"/>
          <p:nvPr/>
        </p:nvSpPr>
        <p:spPr>
          <a:xfrm>
            <a:off x="2695699" y="1496290"/>
            <a:ext cx="26244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H" sz="800" dirty="0"/>
              <a:t>IJO MUSI – RAPPORT – TOTAL = 12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Rassembler mes archives - 0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Trouver et lire 2-3 articles recherche-création (se concentrer sur la forme et méthode) (1)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Rassembler ludographie (0.5)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Rassembler bibliographie (3)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Définir structure du rapport (0.5)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Écriture (5)</a:t>
            </a:r>
          </a:p>
          <a:p>
            <a:pPr marL="285750" indent="-285750">
              <a:buFontTx/>
              <a:buChar char="-"/>
            </a:pPr>
            <a:r>
              <a:rPr lang="en-CH" sz="800" dirty="0"/>
              <a:t>Présentation (2)</a:t>
            </a:r>
          </a:p>
          <a:p>
            <a:endParaRPr lang="en-CH" sz="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37C839-BE49-89D9-3829-9A59E7C27625}"/>
              </a:ext>
            </a:extLst>
          </p:cNvPr>
          <p:cNvSpPr txBox="1"/>
          <p:nvPr/>
        </p:nvSpPr>
        <p:spPr>
          <a:xfrm>
            <a:off x="7600209" y="0"/>
            <a:ext cx="4475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Trucs à mettre sur kanban mais pas à planifier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1BA0F0-A9C9-1EA7-0840-5E5E8F74146F}"/>
              </a:ext>
            </a:extLst>
          </p:cNvPr>
          <p:cNvSpPr txBox="1"/>
          <p:nvPr/>
        </p:nvSpPr>
        <p:spPr>
          <a:xfrm>
            <a:off x="2624446" y="3087584"/>
            <a:ext cx="4540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VISU – SCATERPLOT UNIQUEMENT – TOTAL = 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53A949-CCB5-97BA-857F-C49CA81616F9}"/>
              </a:ext>
            </a:extLst>
          </p:cNvPr>
          <p:cNvSpPr txBox="1"/>
          <p:nvPr/>
        </p:nvSpPr>
        <p:spPr>
          <a:xfrm>
            <a:off x="2743200" y="3633850"/>
            <a:ext cx="18864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PHILO – TOTAL = 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5350B9-AF69-F0A0-0583-3DBA0C34439E}"/>
              </a:ext>
            </a:extLst>
          </p:cNvPr>
          <p:cNvSpPr txBox="1"/>
          <p:nvPr/>
        </p:nvSpPr>
        <p:spPr>
          <a:xfrm>
            <a:off x="3408218" y="4595750"/>
            <a:ext cx="30595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MÉMOIRE – 1 semestre</a:t>
            </a:r>
          </a:p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début : 14 septembre 26</a:t>
            </a:r>
          </a:p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fin des cours : 18 décembre 26</a:t>
            </a:r>
          </a:p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début examens : 15 janvier 26</a:t>
            </a:r>
          </a:p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 fin examnes : 6 février 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3FFE6-3F73-118D-1960-82049E609467}"/>
              </a:ext>
            </a:extLst>
          </p:cNvPr>
          <p:cNvSpPr txBox="1"/>
          <p:nvPr/>
        </p:nvSpPr>
        <p:spPr>
          <a:xfrm>
            <a:off x="8348353" y="2553195"/>
            <a:ext cx="2510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SPEC – CIRA - TOTAL = 30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E51229-0B9D-991A-48BB-42DD54AA332F}"/>
              </a:ext>
            </a:extLst>
          </p:cNvPr>
          <p:cNvSpPr txBox="1"/>
          <p:nvPr/>
        </p:nvSpPr>
        <p:spPr>
          <a:xfrm>
            <a:off x="8170224" y="3301340"/>
            <a:ext cx="3446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STAGES – DamaDama – TOTAL = 15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1E5750-3A96-13A8-4A01-8C221B068534}"/>
              </a:ext>
            </a:extLst>
          </p:cNvPr>
          <p:cNvSpPr txBox="1"/>
          <p:nvPr/>
        </p:nvSpPr>
        <p:spPr>
          <a:xfrm>
            <a:off x="8156370" y="3928753"/>
            <a:ext cx="3131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STAGES – Naraven – TOTAL = 15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7B72F6-2CAE-A18F-1EF6-79EB2D94581F}"/>
              </a:ext>
            </a:extLst>
          </p:cNvPr>
          <p:cNvSpPr txBox="1"/>
          <p:nvPr/>
        </p:nvSpPr>
        <p:spPr>
          <a:xfrm>
            <a:off x="8154391" y="4520540"/>
            <a:ext cx="34247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>
                <a:solidFill>
                  <a:schemeClr val="accent6">
                    <a:lumMod val="75000"/>
                  </a:schemeClr>
                </a:solidFill>
              </a:rPr>
              <a:t>STAGES – Sémaphore – TOTAL = 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73D3DA-FDCC-C74A-7C9B-685F25ACDD05}"/>
              </a:ext>
            </a:extLst>
          </p:cNvPr>
          <p:cNvSpPr txBox="1"/>
          <p:nvPr/>
        </p:nvSpPr>
        <p:spPr>
          <a:xfrm>
            <a:off x="7872413" y="1843088"/>
            <a:ext cx="29561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SPEC – “COURS” – TOTAL = 10</a:t>
            </a:r>
          </a:p>
          <a:p>
            <a:r>
              <a:rPr lang="en-CH" sz="1000" dirty="0"/>
              <a:t>	- 55 heures. 4h / jour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671A90-F7B4-FE99-2E1F-D05D56FA0876}"/>
              </a:ext>
            </a:extLst>
          </p:cNvPr>
          <p:cNvSpPr txBox="1"/>
          <p:nvPr/>
        </p:nvSpPr>
        <p:spPr>
          <a:xfrm>
            <a:off x="9157855" y="5888183"/>
            <a:ext cx="2459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TOTAL (sans stages) = 87</a:t>
            </a:r>
          </a:p>
        </p:txBody>
      </p:sp>
    </p:spTree>
    <p:extLst>
      <p:ext uri="{BB962C8B-B14F-4D97-AF65-F5344CB8AC3E}">
        <p14:creationId xmlns:p14="http://schemas.microsoft.com/office/powerpoint/2010/main" val="3320411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0CBEBCE2-FDE3-8B49-FE37-6FFC8AD24F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4374545"/>
              </p:ext>
            </p:extLst>
          </p:nvPr>
        </p:nvGraphicFramePr>
        <p:xfrm>
          <a:off x="128587" y="1868487"/>
          <a:ext cx="1053253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6567">
                  <a:extLst>
                    <a:ext uri="{9D8B030D-6E8A-4147-A177-3AD203B41FA5}">
                      <a16:colId xmlns:a16="http://schemas.microsoft.com/office/drawing/2014/main" val="3886050130"/>
                    </a:ext>
                  </a:extLst>
                </a:gridCol>
                <a:gridCol w="1316567">
                  <a:extLst>
                    <a:ext uri="{9D8B030D-6E8A-4147-A177-3AD203B41FA5}">
                      <a16:colId xmlns:a16="http://schemas.microsoft.com/office/drawing/2014/main" val="1508651909"/>
                    </a:ext>
                  </a:extLst>
                </a:gridCol>
                <a:gridCol w="1316567">
                  <a:extLst>
                    <a:ext uri="{9D8B030D-6E8A-4147-A177-3AD203B41FA5}">
                      <a16:colId xmlns:a16="http://schemas.microsoft.com/office/drawing/2014/main" val="2062040089"/>
                    </a:ext>
                  </a:extLst>
                </a:gridCol>
                <a:gridCol w="1316567">
                  <a:extLst>
                    <a:ext uri="{9D8B030D-6E8A-4147-A177-3AD203B41FA5}">
                      <a16:colId xmlns:a16="http://schemas.microsoft.com/office/drawing/2014/main" val="2737023149"/>
                    </a:ext>
                  </a:extLst>
                </a:gridCol>
                <a:gridCol w="1316567">
                  <a:extLst>
                    <a:ext uri="{9D8B030D-6E8A-4147-A177-3AD203B41FA5}">
                      <a16:colId xmlns:a16="http://schemas.microsoft.com/office/drawing/2014/main" val="3887682633"/>
                    </a:ext>
                  </a:extLst>
                </a:gridCol>
                <a:gridCol w="1316567">
                  <a:extLst>
                    <a:ext uri="{9D8B030D-6E8A-4147-A177-3AD203B41FA5}">
                      <a16:colId xmlns:a16="http://schemas.microsoft.com/office/drawing/2014/main" val="5628773"/>
                    </a:ext>
                  </a:extLst>
                </a:gridCol>
                <a:gridCol w="1316567">
                  <a:extLst>
                    <a:ext uri="{9D8B030D-6E8A-4147-A177-3AD203B41FA5}">
                      <a16:colId xmlns:a16="http://schemas.microsoft.com/office/drawing/2014/main" val="1453961281"/>
                    </a:ext>
                  </a:extLst>
                </a:gridCol>
                <a:gridCol w="1316567">
                  <a:extLst>
                    <a:ext uri="{9D8B030D-6E8A-4147-A177-3AD203B41FA5}">
                      <a16:colId xmlns:a16="http://schemas.microsoft.com/office/drawing/2014/main" val="1068511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FÉVRIER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MARS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AVRIL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MAI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JUIN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JUILLET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AOÛT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SEPTEMBRE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5547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H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2607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881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736768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CBD22D0-EF2A-A119-E03F-35AD144DFAE6}"/>
              </a:ext>
            </a:extLst>
          </p:cNvPr>
          <p:cNvSpPr txBox="1"/>
          <p:nvPr/>
        </p:nvSpPr>
        <p:spPr>
          <a:xfrm>
            <a:off x="2078182" y="858982"/>
            <a:ext cx="4809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Total (stages + 1j congé / semaine attribués) = 82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FBE358-88DD-737F-C761-027E85BF503E}"/>
              </a:ext>
            </a:extLst>
          </p:cNvPr>
          <p:cNvSpPr txBox="1"/>
          <p:nvPr/>
        </p:nvSpPr>
        <p:spPr>
          <a:xfrm>
            <a:off x="1937288" y="4262034"/>
            <a:ext cx="163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dirty="0"/>
              <a:t>Jours bonus = 0</a:t>
            </a:r>
          </a:p>
        </p:txBody>
      </p:sp>
    </p:spTree>
    <p:extLst>
      <p:ext uri="{BB962C8B-B14F-4D97-AF65-F5344CB8AC3E}">
        <p14:creationId xmlns:p14="http://schemas.microsoft.com/office/powerpoint/2010/main" val="25371181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93896</TotalTime>
  <Words>1505</Words>
  <Application>Microsoft Macintosh PowerPoint</Application>
  <PresentationFormat>Widescreen</PresentationFormat>
  <Paragraphs>393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Reprise kanban 28/01/26</vt:lpstr>
      <vt:lpstr>PowerPoint Presentation</vt:lpstr>
      <vt:lpstr>Reprise kanban 11/02/26</vt:lpstr>
      <vt:lpstr>PowerPoint Presentation</vt:lpstr>
      <vt:lpstr>Reprise kanban 02/03/26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Jeremias Kuehne</dc:creator>
  <cp:lastModifiedBy>Jeremias Kuehne</cp:lastModifiedBy>
  <cp:revision>23</cp:revision>
  <dcterms:created xsi:type="dcterms:W3CDTF">2025-12-05T11:33:13Z</dcterms:created>
  <dcterms:modified xsi:type="dcterms:W3CDTF">2026-05-06T10:58:20Z</dcterms:modified>
</cp:coreProperties>
</file>